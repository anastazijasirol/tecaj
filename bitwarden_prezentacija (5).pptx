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E21D52-74F5-4CF7-96F0-BFA0656FBA7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886487-B8E1-465E-A7A8-7F179FF0CB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C6E010-F6BE-4B69-908A-82200DB8E8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684DB-4E6B-4841-9CCB-CC35643FFF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59A08F-78FE-41AB-89F6-23947267E7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847FD0-0604-4CD9-905D-5489138FB3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64B0B5-1808-40EF-B778-5308197B37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C15BC3-6B80-4B9B-8D1E-2E61A27078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164520"/>
            <a:ext cx="9143640" cy="1641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0" y="329040"/>
            <a:ext cx="9143640" cy="164160"/>
          </a:xfrm>
          <a:prstGeom prst="rect">
            <a:avLst/>
          </a:prstGeom>
          <a:solidFill>
            <a:srgbClr val="448AFF"/>
          </a:solidFill>
          <a:ln w="12700">
            <a:solidFill>
              <a:srgbClr val="448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0" y="493920"/>
            <a:ext cx="9143640" cy="1641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0" y="4978800"/>
            <a:ext cx="9143640" cy="16416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0" y="4814280"/>
            <a:ext cx="9143640" cy="1641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0" y="4649760"/>
            <a:ext cx="9143640" cy="16416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-731520" y="731520"/>
            <a:ext cx="2285640" cy="2285640"/>
          </a:xfrm>
          <a:prstGeom prst="ellipse">
            <a:avLst/>
          </a:prstGeom>
          <a:solidFill>
            <a:srgbClr val="7C4DFF">
              <a:alpha val="30000"/>
            </a:srgbClr>
          </a:solidFill>
          <a:ln w="12700">
            <a:solidFill>
              <a:srgbClr val="7C4D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772400" y="2286000"/>
            <a:ext cx="2742840" cy="2742840"/>
          </a:xfrm>
          <a:prstGeom prst="ellipse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858000" y="457200"/>
            <a:ext cx="1371240" cy="1371240"/>
          </a:xfrm>
          <a:prstGeom prst="ellipse">
            <a:avLst/>
          </a:prstGeom>
          <a:solidFill>
            <a:srgbClr val="E040FB">
              <a:alpha val="40000"/>
            </a:srgbClr>
          </a:solidFill>
          <a:ln w="12700">
            <a:solidFill>
              <a:srgbClr val="E040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" y="10972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>
                  <a:glow rad="127080">
                    <a:srgbClr val="00BCD4">
                      <a:alpha val="50000"/>
                    </a:srgbClr>
                  </a:glow>
                </a:effectLst>
                <a:uFillTx/>
                <a:latin typeface="Arial Black"/>
                <a:ea typeface="Arial Black"/>
              </a:rPr>
              <a:t>🔐 Bitwarden</a:t>
            </a:r>
            <a:endParaRPr lang="en-US" sz="5200" b="0" u="none" strike="noStrike">
              <a:solidFill>
                <a:srgbClr val="FFFFFF"/>
              </a:solidFill>
              <a:effectLst>
                <a:glow rad="127080">
                  <a:srgbClr val="00BCD4">
                    <a:alpha val="50000"/>
                  </a:srgbClr>
                </a:glow>
              </a:effectLst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57200" y="22860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B2EBF2"/>
                </a:solidFill>
                <a:effectLst/>
                <a:uFillTx/>
                <a:latin typeface="Trebuchet MS"/>
                <a:ea typeface="Trebuchet MS"/>
              </a:rPr>
              <a:t>Vodič kroz sučelje upravitelja lozinkama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1371600" y="3200400"/>
            <a:ext cx="1919880" cy="4111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 w="12700">
            <a:solidFill>
              <a:srgbClr val="7C4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1371600" y="320040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🔒 Sigurnost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3429000" y="3200400"/>
            <a:ext cx="1919880" cy="411120"/>
          </a:xfrm>
          <a:prstGeom prst="roundRect">
            <a:avLst>
              <a:gd name="adj" fmla="val 33333"/>
            </a:avLst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429000" y="3200400"/>
            <a:ext cx="1828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☁️ Cloud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5669280" y="3200400"/>
            <a:ext cx="1919880" cy="411120"/>
          </a:xfrm>
          <a:prstGeom prst="roundRect">
            <a:avLst>
              <a:gd name="adj" fmla="val 33333"/>
            </a:avLst>
          </a:prstGeom>
          <a:solidFill>
            <a:srgbClr val="E64A19"/>
          </a:solidFill>
          <a:ln w="12700">
            <a:solidFill>
              <a:srgbClr val="E64A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5669280" y="320040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🌍 Cross-platform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457200" y="4663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Izvor: bitwarden.com/help/vault-guide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1523520" cy="2282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1523880" y="0"/>
            <a:ext cx="1523520" cy="2282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3048120" y="0"/>
            <a:ext cx="1523520" cy="228240"/>
          </a:xfrm>
          <a:prstGeom prst="rect">
            <a:avLst/>
          </a:prstGeom>
          <a:solidFill>
            <a:srgbClr val="448AFF"/>
          </a:solidFill>
          <a:ln w="12700">
            <a:solidFill>
              <a:srgbClr val="448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4572000" y="0"/>
            <a:ext cx="1523520" cy="228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6095880" y="0"/>
            <a:ext cx="1523520" cy="22824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7620120" y="0"/>
            <a:ext cx="1523520" cy="228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274320" y="320040"/>
            <a:ext cx="859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Kako izgleda Bitwarden trezor?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0" descr="preencoded.png"/>
          <p:cNvPicPr/>
          <p:nvPr/>
        </p:nvPicPr>
        <p:blipFill>
          <a:blip r:embed="rId1"/>
          <a:stretch/>
        </p:blipFill>
        <p:spPr>
          <a:xfrm>
            <a:off x="457200" y="1051560"/>
            <a:ext cx="822924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7"/>
          <p:cNvSpPr/>
          <p:nvPr/>
        </p:nvSpPr>
        <p:spPr>
          <a:xfrm>
            <a:off x="457200" y="46634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0DEEA"/>
                </a:solidFill>
                <a:effectLst/>
                <a:uFillTx/>
                <a:latin typeface="Calibri"/>
              </a:rPr>
              <a:t>Stvarni izgled Bitwarden Web Vaulta - pregledno i intuitivno!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523520" cy="20088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1523880" y="0"/>
            <a:ext cx="1523520" cy="2008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3048120" y="0"/>
            <a:ext cx="1523520" cy="20088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4572000" y="0"/>
            <a:ext cx="1523520" cy="200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6095880" y="0"/>
            <a:ext cx="1523520" cy="200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7620120" y="0"/>
            <a:ext cx="1523520" cy="2008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365760" y="32004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📂 My Vault – Moj Trezor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365760" y="1097280"/>
            <a:ext cx="8412120" cy="3200040"/>
          </a:xfrm>
          <a:prstGeom prst="rect">
            <a:avLst/>
          </a:prstGeom>
          <a:solidFill>
            <a:srgbClr val="16213E"/>
          </a:solidFill>
          <a:ln w="254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640080" y="1280160"/>
            <a:ext cx="776880" cy="77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8"/>
          <p:cNvSpPr/>
          <p:nvPr/>
        </p:nvSpPr>
        <p:spPr>
          <a:xfrm>
            <a:off x="1554480" y="137160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4B5F6"/>
                </a:solidFill>
                <a:effectLst/>
                <a:uFillTx/>
                <a:latin typeface="Trebuchet MS"/>
                <a:ea typeface="Trebuchet MS"/>
              </a:rPr>
              <a:t>Središnje mjesto svih vaših podataka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502920" y="1993320"/>
            <a:ext cx="411120" cy="411120"/>
          </a:xfrm>
          <a:prstGeom prst="ellipse">
            <a:avLst/>
          </a:prstGeom>
          <a:solidFill>
            <a:srgbClr val="F48FB1"/>
          </a:solidFill>
          <a:ln w="12700">
            <a:solidFill>
              <a:srgbClr val="F48F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2"/>
          <a:stretch/>
        </p:blipFill>
        <p:spPr>
          <a:xfrm>
            <a:off x="56700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10"/>
          <p:cNvSpPr/>
          <p:nvPr/>
        </p:nvSpPr>
        <p:spPr>
          <a:xfrm>
            <a:off x="1051560" y="1965960"/>
            <a:ext cx="7406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0E0E0"/>
                </a:solidFill>
                <a:effectLst/>
                <a:uFillTx/>
                <a:latin typeface="Calibri"/>
                <a:ea typeface="Calibri"/>
              </a:rPr>
              <a:t>Sve spremljene lozinke na jednom mjestu - uredno raspoređene i pretražive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502920" y="2496240"/>
            <a:ext cx="411120" cy="411120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2" descr="preencoded.png"/>
          <p:cNvPicPr/>
          <p:nvPr/>
        </p:nvPicPr>
        <p:blipFill>
          <a:blip r:embed="rId3"/>
          <a:stretch/>
        </p:blipFill>
        <p:spPr>
          <a:xfrm>
            <a:off x="567000" y="25603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2"/>
          <p:cNvSpPr/>
          <p:nvPr/>
        </p:nvSpPr>
        <p:spPr>
          <a:xfrm>
            <a:off x="1051560" y="2468880"/>
            <a:ext cx="7406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0E0E0"/>
                </a:solidFill>
                <a:effectLst/>
                <a:uFillTx/>
                <a:latin typeface="Calibri"/>
                <a:ea typeface="Calibri"/>
              </a:rPr>
              <a:t>Kartice, identiteti i sigurne bilješke - sve vrste podataka podržane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3"/>
          <p:cNvSpPr/>
          <p:nvPr/>
        </p:nvSpPr>
        <p:spPr>
          <a:xfrm>
            <a:off x="502920" y="2999160"/>
            <a:ext cx="411120" cy="411120"/>
          </a:xfrm>
          <a:prstGeom prst="ellipse">
            <a:avLst/>
          </a:prstGeom>
          <a:solidFill>
            <a:srgbClr val="FFF176"/>
          </a:solidFill>
          <a:ln w="12700">
            <a:solidFill>
              <a:srgbClr val="FFF1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3" descr="preencoded.png"/>
          <p:cNvPicPr/>
          <p:nvPr/>
        </p:nvPicPr>
        <p:blipFill>
          <a:blip r:embed="rId4"/>
          <a:stretch/>
        </p:blipFill>
        <p:spPr>
          <a:xfrm>
            <a:off x="567000" y="3063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4"/>
          <p:cNvSpPr/>
          <p:nvPr/>
        </p:nvSpPr>
        <p:spPr>
          <a:xfrm>
            <a:off x="1051560" y="2971800"/>
            <a:ext cx="7406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0E0E0"/>
                </a:solidFill>
                <a:effectLst/>
                <a:uFillTx/>
                <a:latin typeface="Calibri"/>
                <a:ea typeface="Calibri"/>
              </a:rPr>
              <a:t>Označite favorite za brži pristup najčešće korištenim zapisima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502920" y="3502080"/>
            <a:ext cx="411120" cy="411120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4" descr="preencoded.png"/>
          <p:cNvPicPr/>
          <p:nvPr/>
        </p:nvPicPr>
        <p:blipFill>
          <a:blip r:embed="rId5"/>
          <a:stretch/>
        </p:blipFill>
        <p:spPr>
          <a:xfrm>
            <a:off x="567000" y="3566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16"/>
          <p:cNvSpPr/>
          <p:nvPr/>
        </p:nvSpPr>
        <p:spPr>
          <a:xfrm>
            <a:off x="1051560" y="3474720"/>
            <a:ext cx="7406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0E0E0"/>
                </a:solidFill>
                <a:effectLst/>
                <a:uFillTx/>
                <a:latin typeface="Calibri"/>
                <a:ea typeface="Calibri"/>
              </a:rPr>
              <a:t>Organizirajte zapise u mape i kolekcije za bolji pregled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365760" y="448056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0CBC4"/>
                </a:solidFill>
                <a:effectLst/>
                <a:uFillTx/>
                <a:latin typeface="Calibri"/>
              </a:rPr>
              <a:t>TIP: Koristite pretraživanje (Ctrl+F) za trenutni pronalazak bilo kojeg zapisa!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523520" cy="20088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1523880" y="0"/>
            <a:ext cx="1523520" cy="2008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3048120" y="0"/>
            <a:ext cx="1523520" cy="2008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4572000" y="0"/>
            <a:ext cx="1523520" cy="2008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6095880" y="0"/>
            <a:ext cx="1523520" cy="2008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7620120" y="0"/>
            <a:ext cx="1523520" cy="200880"/>
          </a:xfrm>
          <a:prstGeom prst="rect">
            <a:avLst/>
          </a:prstGeom>
          <a:solidFill>
            <a:srgbClr val="D500F9"/>
          </a:solidFill>
          <a:ln w="12700">
            <a:solidFill>
              <a:srgbClr val="D500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365760" y="32004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➕ Gumb "+" - Dodaj novi zapis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457200" y="1188720"/>
            <a:ext cx="3200040" cy="3200040"/>
          </a:xfrm>
          <a:prstGeom prst="ellipse">
            <a:avLst/>
          </a:prstGeom>
          <a:solidFill>
            <a:srgbClr val="283593"/>
          </a:solidFill>
          <a:ln w="38100">
            <a:solidFill>
              <a:srgbClr val="5C6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822960" y="1554480"/>
            <a:ext cx="2468520" cy="2468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57200" y="1188720"/>
            <a:ext cx="32000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3931920" y="1143000"/>
            <a:ext cx="4845960" cy="1005480"/>
          </a:xfrm>
          <a:prstGeom prst="rect">
            <a:avLst/>
          </a:prstGeom>
          <a:solidFill>
            <a:srgbClr val="283593"/>
          </a:solidFill>
          <a:ln w="25400">
            <a:solidFill>
              <a:srgbClr val="FF80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4023360" y="1280160"/>
            <a:ext cx="639720" cy="639720"/>
          </a:xfrm>
          <a:prstGeom prst="ellipse">
            <a:avLst/>
          </a:prstGeom>
          <a:solidFill>
            <a:srgbClr val="FF80AB"/>
          </a:solidFill>
          <a:ln w="12700">
            <a:solidFill>
              <a:srgbClr val="FF80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4023360" y="12801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🖊️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4754880" y="12160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80AB"/>
                </a:solidFill>
                <a:effectLst/>
                <a:uFillTx/>
                <a:latin typeface="Calibri"/>
              </a:rPr>
              <a:t>Ručno dodavanje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4754880" y="15544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Unesite naziv, korisničko ime, lozinku i URL web stranice.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3931920" y="2286000"/>
            <a:ext cx="4845960" cy="1005480"/>
          </a:xfrm>
          <a:prstGeom prst="rect">
            <a:avLst/>
          </a:prstGeom>
          <a:solidFill>
            <a:srgbClr val="283593"/>
          </a:solidFill>
          <a:ln w="25400">
            <a:solidFill>
              <a:srgbClr val="80D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4023360" y="2423160"/>
            <a:ext cx="639720" cy="639720"/>
          </a:xfrm>
          <a:prstGeom prst="ellipse">
            <a:avLst/>
          </a:prstGeom>
          <a:solidFill>
            <a:srgbClr val="80D8FF"/>
          </a:solidFill>
          <a:ln w="12700">
            <a:solidFill>
              <a:srgbClr val="80D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4023360" y="24231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📱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4754880" y="23590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0D8FF"/>
                </a:solidFill>
                <a:effectLst/>
                <a:uFillTx/>
                <a:latin typeface="Calibri"/>
              </a:rPr>
              <a:t>Na svim uređajima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4754880" y="26974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Gumb je dostupan na mobitelu, tabletu i web verziji.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3931920" y="3429000"/>
            <a:ext cx="4845960" cy="1005480"/>
          </a:xfrm>
          <a:prstGeom prst="rect">
            <a:avLst/>
          </a:prstGeom>
          <a:solidFill>
            <a:srgbClr val="283593"/>
          </a:solidFill>
          <a:ln w="25400">
            <a:solidFill>
              <a:srgbClr val="CCF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1"/>
          <p:cNvSpPr/>
          <p:nvPr/>
        </p:nvSpPr>
        <p:spPr>
          <a:xfrm>
            <a:off x="4023360" y="3566160"/>
            <a:ext cx="639720" cy="639720"/>
          </a:xfrm>
          <a:prstGeom prst="ellipse">
            <a:avLst/>
          </a:prstGeom>
          <a:solidFill>
            <a:srgbClr val="CCFF90"/>
          </a:solidFill>
          <a:ln w="12700">
            <a:solidFill>
              <a:srgbClr val="CCF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4023360" y="35661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🗃️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4754880" y="35020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CFF90"/>
                </a:solidFill>
                <a:effectLst/>
                <a:uFillTx/>
                <a:latin typeface="Calibri"/>
              </a:rPr>
              <a:t>Vrste zapisa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4754880" y="38404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Login, Card, Identity, Secure Note — 4 kategorije po izboru.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523520" cy="200880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1523880" y="0"/>
            <a:ext cx="1523520" cy="2008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3048120" y="0"/>
            <a:ext cx="1523520" cy="200880"/>
          </a:xfrm>
          <a:prstGeom prst="rect">
            <a:avLst/>
          </a:prstGeom>
          <a:solidFill>
            <a:srgbClr val="D500F9"/>
          </a:solidFill>
          <a:ln w="12700">
            <a:solidFill>
              <a:srgbClr val="D500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4572000" y="0"/>
            <a:ext cx="1523520" cy="20088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6095880" y="0"/>
            <a:ext cx="1523520" cy="200880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7620120" y="0"/>
            <a:ext cx="1523520" cy="200880"/>
          </a:xfrm>
          <a:prstGeom prst="rect">
            <a:avLst/>
          </a:prstGeom>
          <a:solidFill>
            <a:srgbClr val="FFEA00"/>
          </a:solidFill>
          <a:ln w="12700">
            <a:solidFill>
              <a:srgbClr val="FFEA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365760" y="32004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⚙️ Generator - Stvaranje lozinki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457200" y="1143000"/>
            <a:ext cx="8229240" cy="776880"/>
          </a:xfrm>
          <a:prstGeom prst="rect">
            <a:avLst/>
          </a:prstGeom>
          <a:solidFill>
            <a:srgbClr val="00251A"/>
          </a:solidFill>
          <a:ln w="38100">
            <a:solidFill>
              <a:srgbClr val="00E6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457200" y="114300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4081"/>
                </a:solidFill>
                <a:effectLst/>
                <a:uFillTx/>
                <a:latin typeface="Consolas"/>
                <a:ea typeface="Consolas"/>
              </a:rPr>
              <a:t>K</a:t>
            </a:r>
            <a:r>
              <a:rPr lang="en-US" sz="3200" b="1" u="none" strike="noStrike">
                <a:solidFill>
                  <a:srgbClr val="40C4FF"/>
                </a:solidFill>
                <a:effectLst/>
                <a:uFillTx/>
                <a:latin typeface="Consolas"/>
                <a:ea typeface="Consolas"/>
              </a:rPr>
              <a:t>7</a:t>
            </a:r>
            <a:r>
              <a:rPr lang="en-US" sz="3200" b="1" u="none" strike="noStrike">
                <a:solidFill>
                  <a:srgbClr val="69F0AE"/>
                </a:solidFill>
                <a:effectLst/>
                <a:uFillTx/>
                <a:latin typeface="Consolas"/>
                <a:ea typeface="Consolas"/>
              </a:rPr>
              <a:t>m</a:t>
            </a:r>
            <a:r>
              <a:rPr lang="en-US" sz="3200" b="1" u="none" strike="noStrike">
                <a:solidFill>
                  <a:srgbClr val="FFD740"/>
                </a:solidFill>
                <a:effectLst/>
                <a:uFillTx/>
                <a:latin typeface="Consolas"/>
                <a:ea typeface="Consolas"/>
              </a:rPr>
              <a:t>!</a:t>
            </a:r>
            <a:r>
              <a:rPr lang="en-US" sz="3200" b="1" u="none" strike="noStrike">
                <a:solidFill>
                  <a:srgbClr val="EA80FC"/>
                </a:solidFill>
                <a:effectLst/>
                <a:uFillTx/>
                <a:latin typeface="Consolas"/>
                <a:ea typeface="Consolas"/>
              </a:rPr>
              <a:t>X</a:t>
            </a:r>
            <a:r>
              <a:rPr lang="en-US" sz="3200" b="1" u="none" strike="noStrike">
                <a:solidFill>
                  <a:srgbClr val="FF6D00"/>
                </a:solidFill>
                <a:effectLst/>
                <a:uFillTx/>
                <a:latin typeface="Consolas"/>
                <a:ea typeface="Consolas"/>
              </a:rPr>
              <a:t>q</a:t>
            </a:r>
            <a:r>
              <a:rPr lang="en-US" sz="3200" b="1" u="none" strike="noStrike">
                <a:solidFill>
                  <a:srgbClr val="40C4FF"/>
                </a:solidFill>
                <a:effectLst/>
                <a:uFillTx/>
                <a:latin typeface="Consolas"/>
                <a:ea typeface="Consolas"/>
              </a:rPr>
              <a:t>2</a:t>
            </a:r>
            <a:r>
              <a:rPr lang="en-US" sz="3200" b="1" u="none" strike="noStrike">
                <a:solidFill>
                  <a:srgbClr val="FF4081"/>
                </a:solidFill>
                <a:effectLst/>
                <a:uFillTx/>
                <a:latin typeface="Consolas"/>
                <a:ea typeface="Consolas"/>
              </a:rPr>
              <a:t>R</a:t>
            </a:r>
            <a:r>
              <a:rPr lang="en-US" sz="3200" b="1" u="none" strike="noStrike">
                <a:solidFill>
                  <a:srgbClr val="FFD740"/>
                </a:solidFill>
                <a:effectLst/>
                <a:uFillTx/>
                <a:latin typeface="Consolas"/>
                <a:ea typeface="Consolas"/>
              </a:rPr>
              <a:t>#</a:t>
            </a:r>
            <a:r>
              <a:rPr lang="en-US" sz="3200" b="1" u="none" strike="noStrike">
                <a:solidFill>
                  <a:srgbClr val="69F0AE"/>
                </a:solidFill>
                <a:effectLst/>
                <a:uFillTx/>
                <a:latin typeface="Consolas"/>
                <a:ea typeface="Consolas"/>
              </a:rPr>
              <a:t>n</a:t>
            </a:r>
            <a:r>
              <a:rPr lang="en-US" sz="3200" b="1" u="none" strike="noStrike">
                <a:solidFill>
                  <a:srgbClr val="40C4FF"/>
                </a:solidFill>
                <a:effectLst/>
                <a:uFillTx/>
                <a:latin typeface="Consolas"/>
                <a:ea typeface="Consolas"/>
              </a:rPr>
              <a:t>9</a:t>
            </a:r>
            <a:r>
              <a:rPr lang="en-US" sz="3200" b="1" u="none" strike="noStrike">
                <a:solidFill>
                  <a:srgbClr val="EA80FC"/>
                </a:solidFill>
                <a:effectLst/>
                <a:uFillTx/>
                <a:latin typeface="Consolas"/>
                <a:ea typeface="Consolas"/>
              </a:rPr>
              <a:t>Z</a:t>
            </a:r>
            <a:r>
              <a:rPr lang="en-US" sz="3200" b="1" u="none" strike="noStrike">
                <a:solidFill>
                  <a:srgbClr val="FF6D00"/>
                </a:solidFill>
                <a:effectLst/>
                <a:uFillTx/>
                <a:latin typeface="Consolas"/>
                <a:ea typeface="Consolas"/>
              </a:rPr>
              <a:t>w</a:t>
            </a:r>
            <a:r>
              <a:rPr lang="en-US" sz="3200" b="1" u="none" strike="noStrike">
                <a:solidFill>
                  <a:srgbClr val="FFD740"/>
                </a:solidFill>
                <a:effectLst/>
                <a:uFillTx/>
                <a:latin typeface="Consolas"/>
                <a:ea typeface="Consolas"/>
              </a:rPr>
              <a:t>$</a:t>
            </a:r>
            <a:r>
              <a:rPr lang="en-US" sz="3200" b="1" u="none" strike="noStrike">
                <a:solidFill>
                  <a:srgbClr val="40C4FF"/>
                </a:solidFill>
                <a:effectLst/>
                <a:uFillTx/>
                <a:latin typeface="Consolas"/>
                <a:ea typeface="Consolas"/>
              </a:rPr>
              <a:t>3</a:t>
            </a:r>
            <a:r>
              <a:rPr lang="en-US" sz="3200" b="1" u="none" strike="noStrike">
                <a:solidFill>
                  <a:srgbClr val="FF4081"/>
                </a:solidFill>
                <a:effectLst/>
                <a:uFillTx/>
                <a:latin typeface="Consolas"/>
                <a:ea typeface="Consolas"/>
              </a:rPr>
              <a:t>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7955280" y="1234440"/>
            <a:ext cx="594000" cy="594000"/>
          </a:xfrm>
          <a:prstGeom prst="roundRect">
            <a:avLst>
              <a:gd name="adj" fmla="val 15385"/>
            </a:avLst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7955280" y="12344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🔄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457200" y="1874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0CBC4"/>
                </a:solidFill>
                <a:effectLst/>
                <a:uFillTx/>
                <a:latin typeface="Calibri"/>
              </a:rPr>
              <a:t>Primjer generirane lozinke - svaki put drugačija!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365760" y="2331720"/>
            <a:ext cx="4114440" cy="1051200"/>
          </a:xfrm>
          <a:prstGeom prst="rect">
            <a:avLst/>
          </a:prstGeom>
          <a:solidFill>
            <a:srgbClr val="00251A"/>
          </a:solidFill>
          <a:ln w="254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365760" y="2331720"/>
            <a:ext cx="109440" cy="1051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594360" y="24231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🔤 Duljina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594360" y="274320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Podesite broj znakova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od 5 do 128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4754880" y="2331720"/>
            <a:ext cx="4114440" cy="1051200"/>
          </a:xfrm>
          <a:prstGeom prst="rect">
            <a:avLst/>
          </a:prstGeom>
          <a:solidFill>
            <a:srgbClr val="00251A"/>
          </a:solidFill>
          <a:ln w="25400">
            <a:solidFill>
              <a:srgbClr val="E91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4754880" y="2331720"/>
            <a:ext cx="109440" cy="105120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4983480" y="24231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1E63"/>
                </a:solidFill>
                <a:effectLst/>
                <a:uFillTx/>
                <a:latin typeface="Calibri"/>
              </a:rPr>
              <a:t>🔣 Znakovi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4983480" y="274320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Uključite velika/mala slova,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brojeve i simbole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0"/>
          <p:cNvSpPr/>
          <p:nvPr/>
        </p:nvSpPr>
        <p:spPr>
          <a:xfrm>
            <a:off x="365760" y="3520440"/>
            <a:ext cx="4114440" cy="1051200"/>
          </a:xfrm>
          <a:prstGeom prst="rect">
            <a:avLst/>
          </a:prstGeom>
          <a:solidFill>
            <a:srgbClr val="00251A"/>
          </a:solidFill>
          <a:ln w="25400">
            <a:solidFill>
              <a:srgbClr val="8BC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365760" y="3520440"/>
            <a:ext cx="109440" cy="105120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594360" y="36118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C34A"/>
                </a:solidFill>
                <a:effectLst/>
                <a:uFillTx/>
                <a:latin typeface="Calibri"/>
              </a:rPr>
              <a:t>💬 Passphrase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594360" y="393192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Umjesto znakova možete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koristiti cijele riječi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4"/>
          <p:cNvSpPr/>
          <p:nvPr/>
        </p:nvSpPr>
        <p:spPr>
          <a:xfrm>
            <a:off x="4754880" y="3520440"/>
            <a:ext cx="4114440" cy="1051200"/>
          </a:xfrm>
          <a:prstGeom prst="rect">
            <a:avLst/>
          </a:prstGeom>
          <a:solidFill>
            <a:srgbClr val="00251A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5"/>
          <p:cNvSpPr/>
          <p:nvPr/>
        </p:nvSpPr>
        <p:spPr>
          <a:xfrm>
            <a:off x="4754880" y="3520440"/>
            <a:ext cx="109440" cy="10512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6"/>
          <p:cNvSpPr/>
          <p:nvPr/>
        </p:nvSpPr>
        <p:spPr>
          <a:xfrm>
            <a:off x="4983480" y="36118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9800"/>
                </a:solidFill>
                <a:effectLst/>
                <a:uFillTx/>
                <a:latin typeface="Calibri"/>
              </a:rPr>
              <a:t>📋 Kopiranje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7"/>
          <p:cNvSpPr/>
          <p:nvPr/>
        </p:nvSpPr>
        <p:spPr>
          <a:xfrm>
            <a:off x="4983480" y="393192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Jednim klikom kopirajte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lozinku u međuspremnik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1523520" cy="200880"/>
          </a:xfrm>
          <a:prstGeom prst="rect">
            <a:avLst/>
          </a:prstGeom>
          <a:solidFill>
            <a:srgbClr val="F50057"/>
          </a:solidFill>
          <a:ln w="12700">
            <a:solidFill>
              <a:srgbClr val="F50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1523880" y="0"/>
            <a:ext cx="1523520" cy="200880"/>
          </a:xfrm>
          <a:prstGeom prst="rect">
            <a:avLst/>
          </a:prstGeom>
          <a:solidFill>
            <a:srgbClr val="651FFF"/>
          </a:solidFill>
          <a:ln w="12700">
            <a:solidFill>
              <a:srgbClr val="651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3048120" y="0"/>
            <a:ext cx="1523520" cy="20088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4572000" y="0"/>
            <a:ext cx="1523520" cy="2008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6095880" y="0"/>
            <a:ext cx="1523520" cy="2008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7620120" y="0"/>
            <a:ext cx="1523520" cy="2008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365760" y="32004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⚙️ Settings - Postavke računa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365760" y="1143000"/>
            <a:ext cx="548280" cy="548280"/>
          </a:xfrm>
          <a:prstGeom prst="ellipse">
            <a:avLst/>
          </a:prstGeom>
          <a:solidFill>
            <a:srgbClr val="2979FF"/>
          </a:solidFill>
          <a:ln w="12700">
            <a:solidFill>
              <a:srgbClr val="2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365760" y="1143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1051560" y="109728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979FF"/>
                </a:solidFill>
                <a:effectLst/>
                <a:uFillTx/>
                <a:latin typeface="Trebuchet MS"/>
                <a:ea typeface="Trebuchet MS"/>
              </a:rPr>
              <a:t>Jezik sučelja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1051560" y="138996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DBDBD"/>
                </a:solidFill>
                <a:effectLst/>
                <a:uFillTx/>
                <a:latin typeface="Calibri"/>
              </a:rPr>
              <a:t>Promijenite jezik aplikacije - podržano je više od 40 jezika, uključujući hrvatski.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365760" y="1810440"/>
            <a:ext cx="8412480" cy="360"/>
          </a:xfrm>
          <a:prstGeom prst="line">
            <a:avLst/>
          </a:prstGeom>
          <a:ln w="635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2"/>
          <p:cNvSpPr/>
          <p:nvPr/>
        </p:nvSpPr>
        <p:spPr>
          <a:xfrm>
            <a:off x="365760" y="1901880"/>
            <a:ext cx="548280" cy="548280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365760" y="1901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🛡️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1051560" y="185616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0057"/>
                </a:solidFill>
                <a:effectLst/>
                <a:uFillTx/>
                <a:latin typeface="Trebuchet MS"/>
                <a:ea typeface="Trebuchet MS"/>
              </a:rPr>
              <a:t>Dvorazinska autentifikacija (2FA)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1051560" y="21488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DBDBD"/>
                </a:solidFill>
                <a:effectLst/>
                <a:uFillTx/>
                <a:latin typeface="Calibri"/>
              </a:rPr>
              <a:t>Aktivirajte dodatni sloj zaštite putem autentifikacijske aplikacije, SMS-a ili fizičkog ključa.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6"/>
          <p:cNvSpPr/>
          <p:nvPr/>
        </p:nvSpPr>
        <p:spPr>
          <a:xfrm>
            <a:off x="365760" y="2569320"/>
            <a:ext cx="8412480" cy="360"/>
          </a:xfrm>
          <a:prstGeom prst="line">
            <a:avLst/>
          </a:prstGeom>
          <a:ln w="635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7"/>
          <p:cNvSpPr/>
          <p:nvPr/>
        </p:nvSpPr>
        <p:spPr>
          <a:xfrm>
            <a:off x="365760" y="2660760"/>
            <a:ext cx="548280" cy="54828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365760" y="26607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1051560" y="2615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D600"/>
                </a:solidFill>
                <a:effectLst/>
                <a:uFillTx/>
                <a:latin typeface="Trebuchet MS"/>
                <a:ea typeface="Trebuchet MS"/>
              </a:rPr>
              <a:t>Timeout trezora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1051560" y="29077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DBDBD"/>
                </a:solidFill>
                <a:effectLst/>
                <a:uFillTx/>
                <a:latin typeface="Calibri"/>
              </a:rPr>
              <a:t>Postavite koliko dugo trezor ostaje otključan pri neaktivnosti - preporučujemo 5 minuta.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1"/>
          <p:cNvSpPr/>
          <p:nvPr/>
        </p:nvSpPr>
        <p:spPr>
          <a:xfrm>
            <a:off x="365760" y="3328200"/>
            <a:ext cx="8412480" cy="360"/>
          </a:xfrm>
          <a:prstGeom prst="line">
            <a:avLst/>
          </a:prstGeom>
          <a:ln w="635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2"/>
          <p:cNvSpPr/>
          <p:nvPr/>
        </p:nvSpPr>
        <p:spPr>
          <a:xfrm>
            <a:off x="365760" y="3420000"/>
            <a:ext cx="548280" cy="5482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3"/>
          <p:cNvSpPr/>
          <p:nvPr/>
        </p:nvSpPr>
        <p:spPr>
          <a:xfrm>
            <a:off x="365760" y="3420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1051560" y="337428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BFA5"/>
                </a:solidFill>
                <a:effectLst/>
                <a:uFillTx/>
                <a:latin typeface="Trebuchet MS"/>
                <a:ea typeface="Trebuchet MS"/>
              </a:rPr>
              <a:t>Master lozinka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1051560" y="36666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DBDBD"/>
                </a:solidFill>
                <a:effectLst/>
                <a:uFillTx/>
                <a:latin typeface="Calibri"/>
              </a:rPr>
              <a:t>Promijenite svoju glavnu lozinku koja štiti cijeli trezor.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6"/>
          <p:cNvSpPr/>
          <p:nvPr/>
        </p:nvSpPr>
        <p:spPr>
          <a:xfrm>
            <a:off x="365760" y="4087080"/>
            <a:ext cx="8412480" cy="360"/>
          </a:xfrm>
          <a:prstGeom prst="line">
            <a:avLst/>
          </a:prstGeom>
          <a:ln w="635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7"/>
          <p:cNvSpPr/>
          <p:nvPr/>
        </p:nvSpPr>
        <p:spPr>
          <a:xfrm>
            <a:off x="365760" y="4178880"/>
            <a:ext cx="548280" cy="54828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8"/>
          <p:cNvSpPr/>
          <p:nvPr/>
        </p:nvSpPr>
        <p:spPr>
          <a:xfrm>
            <a:off x="365760" y="417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📤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9"/>
          <p:cNvSpPr/>
          <p:nvPr/>
        </p:nvSpPr>
        <p:spPr>
          <a:xfrm>
            <a:off x="1051560" y="413316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6D00"/>
                </a:solidFill>
                <a:effectLst/>
                <a:uFillTx/>
                <a:latin typeface="Trebuchet MS"/>
                <a:ea typeface="Trebuchet MS"/>
              </a:rPr>
              <a:t>Export / Import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0"/>
          <p:cNvSpPr/>
          <p:nvPr/>
        </p:nvSpPr>
        <p:spPr>
          <a:xfrm>
            <a:off x="1051560" y="44258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DBDBD"/>
                </a:solidFill>
                <a:effectLst/>
                <a:uFillTx/>
                <a:latin typeface="Calibri"/>
              </a:rPr>
              <a:t>Izvezite ili uvezite sve podatke iz trezora u JSON ili CSV formatu.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609120" cy="5143320"/>
          </a:xfrm>
          <a:prstGeom prst="rect">
            <a:avLst/>
          </a:prstGeom>
          <a:solidFill>
            <a:srgbClr val="E53935">
              <a:alpha val="15000"/>
            </a:srgbClr>
          </a:solidFill>
          <a:ln w="12700">
            <a:solidFill>
              <a:srgbClr val="E53935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609480" y="0"/>
            <a:ext cx="609120" cy="5143320"/>
          </a:xfrm>
          <a:prstGeom prst="rect">
            <a:avLst/>
          </a:prstGeom>
          <a:solidFill>
            <a:srgbClr val="E91E63">
              <a:alpha val="15000"/>
            </a:srgbClr>
          </a:solidFill>
          <a:ln w="12700">
            <a:solidFill>
              <a:srgbClr val="E91E63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1219320" y="0"/>
            <a:ext cx="609120" cy="5143320"/>
          </a:xfrm>
          <a:prstGeom prst="rect">
            <a:avLst/>
          </a:prstGeom>
          <a:solidFill>
            <a:srgbClr val="9C27B0">
              <a:alpha val="15000"/>
            </a:srgbClr>
          </a:solidFill>
          <a:ln w="12700">
            <a:solidFill>
              <a:srgbClr val="9C27B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1828800" y="0"/>
            <a:ext cx="609120" cy="5143320"/>
          </a:xfrm>
          <a:prstGeom prst="rect">
            <a:avLst/>
          </a:prstGeom>
          <a:solidFill>
            <a:srgbClr val="673AB7">
              <a:alpha val="15000"/>
            </a:srgbClr>
          </a:solidFill>
          <a:ln w="12700">
            <a:solidFill>
              <a:srgbClr val="673AB7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2438280" y="0"/>
            <a:ext cx="609120" cy="5143320"/>
          </a:xfrm>
          <a:prstGeom prst="rect">
            <a:avLst/>
          </a:prstGeom>
          <a:solidFill>
            <a:srgbClr val="3F51B5">
              <a:alpha val="15000"/>
            </a:srgbClr>
          </a:solidFill>
          <a:ln w="12700">
            <a:solidFill>
              <a:srgbClr val="3F51B5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3048120" y="0"/>
            <a:ext cx="609120" cy="5143320"/>
          </a:xfrm>
          <a:prstGeom prst="rect">
            <a:avLst/>
          </a:prstGeom>
          <a:solidFill>
            <a:srgbClr val="2196F3">
              <a:alpha val="15000"/>
            </a:srgbClr>
          </a:solidFill>
          <a:ln w="12700">
            <a:solidFill>
              <a:srgbClr val="2196F3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3657600" y="0"/>
            <a:ext cx="609120" cy="5143320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4267080" y="0"/>
            <a:ext cx="609120" cy="5143320"/>
          </a:xfrm>
          <a:prstGeom prst="rect">
            <a:avLst/>
          </a:prstGeom>
          <a:solidFill>
            <a:srgbClr val="009688">
              <a:alpha val="15000"/>
            </a:srgbClr>
          </a:solidFill>
          <a:ln w="12700">
            <a:solidFill>
              <a:srgbClr val="009688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4876920" y="0"/>
            <a:ext cx="609120" cy="5143320"/>
          </a:xfrm>
          <a:prstGeom prst="rect">
            <a:avLst/>
          </a:prstGeom>
          <a:solidFill>
            <a:srgbClr val="4CAF50">
              <a:alpha val="15000"/>
            </a:srgbClr>
          </a:solidFill>
          <a:ln w="12700">
            <a:solidFill>
              <a:srgbClr val="4CAF5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5486400" y="0"/>
            <a:ext cx="609120" cy="5143320"/>
          </a:xfrm>
          <a:prstGeom prst="rect">
            <a:avLst/>
          </a:prstGeom>
          <a:solidFill>
            <a:srgbClr val="8BC34A">
              <a:alpha val="15000"/>
            </a:srgbClr>
          </a:solidFill>
          <a:ln w="12700">
            <a:solidFill>
              <a:srgbClr val="8BC34A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6095880" y="0"/>
            <a:ext cx="609120" cy="5143320"/>
          </a:xfrm>
          <a:prstGeom prst="rect">
            <a:avLst/>
          </a:prstGeom>
          <a:solidFill>
            <a:srgbClr val="CDDC39">
              <a:alpha val="15000"/>
            </a:srgbClr>
          </a:solidFill>
          <a:ln w="12700">
            <a:solidFill>
              <a:srgbClr val="CDDC39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6705720" y="0"/>
            <a:ext cx="609120" cy="5143320"/>
          </a:xfrm>
          <a:prstGeom prst="rect">
            <a:avLst/>
          </a:prstGeom>
          <a:solidFill>
            <a:srgbClr val="FFEB3B">
              <a:alpha val="15000"/>
            </a:srgbClr>
          </a:solidFill>
          <a:ln w="12700">
            <a:solidFill>
              <a:srgbClr val="FFEB3B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7315200" y="0"/>
            <a:ext cx="609120" cy="5143320"/>
          </a:xfrm>
          <a:prstGeom prst="rect">
            <a:avLst/>
          </a:prstGeom>
          <a:solidFill>
            <a:srgbClr val="FFC107">
              <a:alpha val="15000"/>
            </a:srgbClr>
          </a:solidFill>
          <a:ln w="12700">
            <a:solidFill>
              <a:srgbClr val="FFC107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7924680" y="0"/>
            <a:ext cx="609120" cy="5143320"/>
          </a:xfrm>
          <a:prstGeom prst="rect">
            <a:avLst/>
          </a:prstGeom>
          <a:solidFill>
            <a:srgbClr val="FF9800">
              <a:alpha val="15000"/>
            </a:srgbClr>
          </a:solidFill>
          <a:ln w="12700">
            <a:solidFill>
              <a:srgbClr val="FF98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8534520" y="0"/>
            <a:ext cx="609120" cy="5143320"/>
          </a:xfrm>
          <a:prstGeom prst="rect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640080" y="457200"/>
            <a:ext cx="7863480" cy="420588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640080" y="64008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🎉 Zaključak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914400" y="14173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Bitwarden sučelje ima sve što vam treba: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822960" y="1920240"/>
            <a:ext cx="1371240" cy="1371240"/>
          </a:xfrm>
          <a:prstGeom prst="ellipse">
            <a:avLst/>
          </a:prstGeom>
          <a:solidFill>
            <a:srgbClr val="FF4081">
              <a:alpha val="80000"/>
            </a:srgbClr>
          </a:solidFill>
          <a:ln w="38100">
            <a:solidFill>
              <a:srgbClr val="FF40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822960" y="19202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📂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685800" y="28346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4081"/>
                </a:solidFill>
                <a:effectLst/>
                <a:uFillTx/>
                <a:latin typeface="Calibri"/>
              </a:rPr>
              <a:t>My Vault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1"/>
          <p:cNvSpPr/>
          <p:nvPr/>
        </p:nvSpPr>
        <p:spPr>
          <a:xfrm>
            <a:off x="2743200" y="1920240"/>
            <a:ext cx="1371240" cy="1371240"/>
          </a:xfrm>
          <a:prstGeom prst="ellipse">
            <a:avLst/>
          </a:prstGeom>
          <a:solidFill>
            <a:srgbClr val="40C4FF">
              <a:alpha val="80000"/>
            </a:srgbClr>
          </a:solidFill>
          <a:ln w="38100">
            <a:solidFill>
              <a:srgbClr val="40C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2743200" y="19202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➕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3"/>
          <p:cNvSpPr/>
          <p:nvPr/>
        </p:nvSpPr>
        <p:spPr>
          <a:xfrm>
            <a:off x="2606040" y="28346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0C4FF"/>
                </a:solidFill>
                <a:effectLst/>
                <a:uFillTx/>
                <a:latin typeface="Calibri"/>
              </a:rPr>
              <a:t>Gumb +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4663440" y="1920240"/>
            <a:ext cx="1371240" cy="1371240"/>
          </a:xfrm>
          <a:prstGeom prst="ellipse">
            <a:avLst/>
          </a:prstGeom>
          <a:solidFill>
            <a:srgbClr val="69F0AE">
              <a:alpha val="80000"/>
            </a:srgbClr>
          </a:solidFill>
          <a:ln w="38100">
            <a:solidFill>
              <a:srgbClr val="69F0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4663440" y="19202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⚙️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6"/>
          <p:cNvSpPr/>
          <p:nvPr/>
        </p:nvSpPr>
        <p:spPr>
          <a:xfrm>
            <a:off x="4526280" y="28346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9F0AE"/>
                </a:solidFill>
                <a:effectLst/>
                <a:uFillTx/>
                <a:latin typeface="Calibri"/>
              </a:rPr>
              <a:t>Generator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6583680" y="1920240"/>
            <a:ext cx="1371240" cy="1371240"/>
          </a:xfrm>
          <a:prstGeom prst="ellipse">
            <a:avLst/>
          </a:prstGeom>
          <a:solidFill>
            <a:srgbClr val="FFD740">
              <a:alpha val="80000"/>
            </a:srgbClr>
          </a:solidFill>
          <a:ln w="38100">
            <a:solidFill>
              <a:srgbClr val="FFD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8"/>
          <p:cNvSpPr/>
          <p:nvPr/>
        </p:nvSpPr>
        <p:spPr>
          <a:xfrm>
            <a:off x="6583680" y="19202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🔧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9"/>
          <p:cNvSpPr/>
          <p:nvPr/>
        </p:nvSpPr>
        <p:spPr>
          <a:xfrm>
            <a:off x="6446520" y="28346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D740"/>
                </a:solidFill>
                <a:effectLst/>
                <a:uFillTx/>
                <a:latin typeface="Calibri"/>
              </a:rPr>
              <a:t>Settings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0"/>
          <p:cNvSpPr/>
          <p:nvPr/>
        </p:nvSpPr>
        <p:spPr>
          <a:xfrm>
            <a:off x="731520" y="338328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B0BEC5"/>
                </a:solidFill>
                <a:effectLst/>
                <a:uFillTx/>
                <a:latin typeface="Calibri"/>
              </a:rPr>
              <a:t>Jednom kad savladate ova četiri alata,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B0BEC5"/>
                </a:solidFill>
                <a:effectLst/>
                <a:uFillTx/>
                <a:latin typeface="Calibri"/>
              </a:rPr>
              <a:t>upravljanje lozinkama postaje jednostavno i sigurno! 🔐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1"/>
          <p:cNvSpPr/>
          <p:nvPr/>
        </p:nvSpPr>
        <p:spPr>
          <a:xfrm>
            <a:off x="731520" y="448056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bitwarden.com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LibreOffice/26.2.2.2$Linux_X86_64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2026-04-24T14:59:59Z</dcterms:created>
  <dc:creator>PptxGenJS</dc:creator>
  <dc:description/>
  <dc:language>en-US</dc:language>
  <cp:lastModifiedBy/>
  <dcterms:modified xsi:type="dcterms:W3CDTF">2026-04-24T17:22:07Z</dcterms:modified>
  <cp:revision>2</cp:revision>
  <dc:subject>PptxGenJS Presentation</dc:subject>
  <dc:title>Bitwarden - Vodič kroz sučelje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